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21040" y="0"/>
            <a:ext cx="386791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55279" y="0"/>
            <a:ext cx="457200" cy="6858000"/>
          </a:xfrm>
          <a:prstGeom prst="rect">
            <a:avLst/>
          </a:prstGeom>
          <a:solidFill>
            <a:srgbClr val="28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3152"/>
            <a:ext cx="12188952" cy="54864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SMART INDIA HACKATHON 2026  --  Idea Submission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914400"/>
            <a:ext cx="1005840" cy="1005840"/>
          </a:xfrm>
          <a:prstGeom prst="rect">
            <a:avLst/>
          </a:prstGeom>
          <a:solidFill>
            <a:srgbClr val="F59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960120"/>
            <a:ext cx="10058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6B3A"/>
                </a:solidFill>
                <a:latin typeface="Calibri"/>
              </a:rPr>
              <a:t>CG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777240"/>
            <a:ext cx="6858000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CropGuard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755648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59E0E"/>
                </a:solidFill>
                <a:latin typeface="Calibri"/>
              </a:rPr>
              <a:t>AI-Powered Crop Disease Detection &amp; Advisory for Indian Farmers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2377440"/>
            <a:ext cx="5760720" cy="45720"/>
          </a:xfrm>
          <a:prstGeom prst="rect">
            <a:avLst/>
          </a:prstGeom>
          <a:solidFill>
            <a:srgbClr val="3AB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56032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E"/>
                </a:solidFill>
                <a:latin typeface="Calibri"/>
              </a:rPr>
              <a:t>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880360"/>
            <a:ext cx="777240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Develop an AI-based system for real-time crop disease identification
and advisory to help Indian farmers detect, diagnose, and manage
crop diseases using smartphone images.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86200"/>
            <a:ext cx="3657600" cy="530352"/>
          </a:xfrm>
          <a:prstGeom prst="rect">
            <a:avLst/>
          </a:prstGeom>
          <a:solidFill>
            <a:srgbClr val="0F5030"/>
          </a:solidFill>
          <a:ln w="1270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3913632"/>
            <a:ext cx="35204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E"/>
                </a:solidFill>
                <a:latin typeface="Calibri"/>
              </a:rPr>
              <a:t>THEME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4114800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Smart Agriculture / AgriTech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3886200"/>
            <a:ext cx="3657600" cy="530352"/>
          </a:xfrm>
          <a:prstGeom prst="rect">
            <a:avLst/>
          </a:prstGeom>
          <a:solidFill>
            <a:srgbClr val="0F5030"/>
          </a:solidFill>
          <a:ln w="1270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9392" y="3913632"/>
            <a:ext cx="35204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E"/>
                </a:solidFill>
                <a:latin typeface="Calibri"/>
              </a:rPr>
              <a:t>PS CATEGORY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9392" y="4114800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Software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26280"/>
            <a:ext cx="3657600" cy="530352"/>
          </a:xfrm>
          <a:prstGeom prst="rect">
            <a:avLst/>
          </a:prstGeom>
          <a:solidFill>
            <a:srgbClr val="0F5030"/>
          </a:solidFill>
          <a:ln w="1270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4553712"/>
            <a:ext cx="35204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E"/>
                </a:solidFill>
                <a:latin typeface="Calibri"/>
              </a:rPr>
              <a:t>MINISTRY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" y="4754880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Agri &amp; Farmers Welfare / ICAR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4526280"/>
            <a:ext cx="3657600" cy="530352"/>
          </a:xfrm>
          <a:prstGeom prst="rect">
            <a:avLst/>
          </a:prstGeom>
          <a:solidFill>
            <a:srgbClr val="0F5030"/>
          </a:solidFill>
          <a:ln w="1270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9392" y="4553712"/>
            <a:ext cx="35204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E"/>
                </a:solidFill>
                <a:latin typeface="Calibri"/>
              </a:rPr>
              <a:t>TEAM 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4754880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Apex  [REQUIRES CONFIRMATION]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7315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3A"/>
                </a:solidFill>
                <a:latin typeface="Calibri"/>
              </a:rPr>
              <a:t>TECH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1078992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2E"/>
                </a:solidFill>
                <a:latin typeface="Calibri"/>
              </a:rPr>
              <a:t>React 18 + TypeScript + Vite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1472184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2E"/>
                </a:solidFill>
                <a:latin typeface="Calibri"/>
              </a:rPr>
              <a:t>FastAPI 0.110+ (Python 3.10+)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1865376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2E"/>
                </a:solidFill>
                <a:latin typeface="Calibri"/>
              </a:rPr>
              <a:t>PyTorch 2.0+ (MobileNetV2/V3)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258568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2E"/>
                </a:solidFill>
                <a:latin typeface="Calibri"/>
              </a:rPr>
              <a:t>CLIP ViT-B/32 (HuggingFace)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65176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2E"/>
                </a:solidFill>
                <a:latin typeface="Calibri"/>
              </a:rPr>
              <a:t>SQLite + MongoDB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044952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2E"/>
                </a:solidFill>
                <a:latin typeface="Calibri"/>
              </a:rPr>
              <a:t>Open-Meteo + Nominatim (OSM)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438144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2E"/>
                </a:solidFill>
                <a:latin typeface="Calibri"/>
              </a:rPr>
              <a:t>ICAR Advisory Knowledge 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800600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289B5A"/>
                </a:solidFill>
                <a:latin typeface="Calibri"/>
              </a:rPr>
              <a:t>8 Trained Models  |  20 Crops Catalogued
All 8 E2E Tests PASS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59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684264"/>
            <a:ext cx="114300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6B3A"/>
                </a:solidFill>
                <a:latin typeface="Calibri"/>
              </a:rPr>
              <a:t>Adhering to ICAR / OGDL-India data standards  |  Advisory sourced exclusively from ICAR SAUs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F59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E"/>
                </a:solidFill>
                <a:latin typeface="Calibri"/>
              </a:rPr>
              <a:t>SLIDE 2  |  IDEA TITLE /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7432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CropGuard -- What Is It &amp; How Does It Work?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93408"/>
            <a:ext cx="10972800" cy="137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CropGuard  |  SIH 2026  |  Slide 2 of 6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777240"/>
            <a:ext cx="525780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8229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6B3A"/>
                </a:solidFill>
                <a:latin typeface="Calibri"/>
              </a:rPr>
              <a:t>PROPOSED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115568"/>
            <a:ext cx="5074920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2E"/>
                </a:solidFill>
                <a:latin typeface="Calibri"/>
              </a:rPr>
              <a:t>CropGuard is a smartphone-accessible AI system for Indian farmers. A farmer photographs a crop leaf or plant. The system automatically identifies the crop species, diagnoses any disease, assesses severity, and delivers ICAR-grounded management guidance -- all in one flow.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2286000"/>
            <a:ext cx="525780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3317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6B3A"/>
                </a:solidFill>
                <a:latin typeface="Calibri"/>
              </a:rPr>
              <a:t>KEY DIFFERENTIATORS  (Verified in Repository)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633472"/>
            <a:ext cx="50749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2E"/>
                </a:solidFill>
                <a:latin typeface="Calibri"/>
              </a:rPr>
              <a:t>  4-Stage pipeline -- rejects blurry/non-plant images before diagnosing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898648"/>
            <a:ext cx="50749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2E"/>
                </a:solidFill>
                <a:latin typeface="Calibri"/>
              </a:rPr>
              <a:t>  CLIP ViT-B/32 crop identification BEFORE per-crop disease classifier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163824"/>
            <a:ext cx="50749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2E"/>
                </a:solidFill>
                <a:latin typeface="Calibri"/>
              </a:rPr>
              <a:t>  Abstain logic: returns 'Needs expert verification' when confidence 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429000"/>
            <a:ext cx="50749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2E"/>
                </a:solidFill>
                <a:latin typeface="Calibri"/>
              </a:rPr>
              <a:t>  ICAR-grounded advisory: symptoms, cultural mgmt, safety notices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694176"/>
            <a:ext cx="50749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2E"/>
                </a:solidFill>
                <a:latin typeface="Calibri"/>
              </a:rPr>
              <a:t>  Dual SQLite persistence (scan_history + submissions tables)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959352"/>
            <a:ext cx="50749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2E"/>
                </a:solidFill>
                <a:latin typeface="Calibri"/>
              </a:rPr>
              <a:t>  My Farm dashboard -- in-place crop cards, no duplicate 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224528"/>
            <a:ext cx="50749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2E"/>
                </a:solidFill>
                <a:latin typeface="Calibri"/>
              </a:rPr>
              <a:t>  Bilingual UI (English + Marathi) via LanguageContext.tsx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4526280"/>
            <a:ext cx="5257800" cy="777240"/>
          </a:xfrm>
          <a:prstGeom prst="rect">
            <a:avLst/>
          </a:prstGeom>
          <a:solidFill>
            <a:srgbClr val="FFF9EB"/>
          </a:solidFill>
          <a:ln w="15240">
            <a:solidFill>
              <a:srgbClr val="F59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572000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45B00"/>
                </a:solidFill>
                <a:latin typeface="Calibri"/>
              </a:rPr>
              <a:t>TARGET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828032"/>
            <a:ext cx="50749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2E"/>
                </a:solidFill>
                <a:latin typeface="Calibri"/>
              </a:rPr>
              <a:t>Smallholder/marginal farmers (Maharashtra, 20 crops)  |  Agricultural extension officers  |  Government crop health units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777240"/>
            <a:ext cx="626364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B3A"/>
                </a:solidFill>
                <a:latin typeface="Calibri"/>
              </a:rPr>
              <a:t>VERIFIED 7-STAGE FARMER WORKFLOW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0" y="1143000"/>
            <a:ext cx="1444752" cy="86868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1170432"/>
            <a:ext cx="14447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E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51576" y="1344168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FFFFFF"/>
                </a:solidFill>
                <a:latin typeface="Calibri"/>
              </a:rPr>
              <a:t>FARMER
Sign in &amp;
select crop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9752" y="1463040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6B3A"/>
                </a:solidFill>
                <a:latin typeface="Calibri"/>
              </a:rPr>
              <a:t>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24344" y="1143000"/>
            <a:ext cx="1444752" cy="868680"/>
          </a:xfrm>
          <a:prstGeom prst="rect">
            <a:avLst/>
          </a:prstGeom>
          <a:solidFill>
            <a:srgbClr val="28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24344" y="1170432"/>
            <a:ext cx="14447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E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1344168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FFFFFF"/>
                </a:solidFill>
                <a:latin typeface="Calibri"/>
              </a:rPr>
              <a:t>CAPTURE
Upload/camera
Blur 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69096" y="1463040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6B3A"/>
                </a:solidFill>
                <a:latin typeface="Calibri"/>
              </a:rPr>
              <a:t>&gt;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33688" y="1143000"/>
            <a:ext cx="1444752" cy="86868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33688" y="1170432"/>
            <a:ext cx="14447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E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0264" y="1344168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FFFFFF"/>
                </a:solidFill>
                <a:latin typeface="Calibri"/>
              </a:rPr>
              <a:t>PLANT
GATE
MobileNetV2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78440" y="1463040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6B3A"/>
                </a:solidFill>
                <a:latin typeface="Calibri"/>
              </a:rPr>
              <a:t>&gt;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43032" y="1143000"/>
            <a:ext cx="1444752" cy="868680"/>
          </a:xfrm>
          <a:prstGeom prst="rect">
            <a:avLst/>
          </a:prstGeom>
          <a:solidFill>
            <a:srgbClr val="28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43032" y="1170432"/>
            <a:ext cx="14447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E"/>
                </a:solidFill>
                <a:latin typeface="Calibr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79608" y="1344168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FFFFFF"/>
                </a:solidFill>
                <a:latin typeface="Calibri"/>
              </a:rPr>
              <a:t>CROP ID
CLIP ViT-B/32
species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987784" y="1463040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6B3A"/>
                </a:solidFill>
                <a:latin typeface="Calibri"/>
              </a:rPr>
              <a:t>&gt;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152376" y="1143000"/>
            <a:ext cx="1444752" cy="86868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152376" y="1170432"/>
            <a:ext cx="14447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E"/>
                </a:solidFill>
                <a:latin typeface="Calibr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88952" y="1344168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FFFFFF"/>
                </a:solidFill>
                <a:latin typeface="Calibri"/>
              </a:rPr>
              <a:t>DISEASE
MobileNetV3
+ abstain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597128" y="1463040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6B3A"/>
                </a:solidFill>
                <a:latin typeface="Calibri"/>
              </a:rPr>
              <a:t>&gt;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61720" y="1143000"/>
            <a:ext cx="1444752" cy="868680"/>
          </a:xfrm>
          <a:prstGeom prst="rect">
            <a:avLst/>
          </a:prstGeom>
          <a:solidFill>
            <a:srgbClr val="28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761720" y="1170432"/>
            <a:ext cx="14447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E"/>
                </a:solidFill>
                <a:latin typeface="Calibri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98296" y="1344168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FFFFFF"/>
                </a:solidFill>
                <a:latin typeface="Calibri"/>
              </a:rPr>
              <a:t>ADVISORY
ICARfield
guidance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206472" y="1463040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6B3A"/>
                </a:solidFill>
                <a:latin typeface="Calibri"/>
              </a:rPr>
              <a:t>&gt;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371064" y="1143000"/>
            <a:ext cx="1444752" cy="868680"/>
          </a:xfrm>
          <a:prstGeom prst="rect">
            <a:avLst/>
          </a:prstGeom>
          <a:solidFill>
            <a:srgbClr val="0E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371064" y="1170432"/>
            <a:ext cx="14447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E"/>
                </a:solidFill>
                <a:latin typeface="Calibri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407640" y="1344168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FFFFFF"/>
                </a:solidFill>
                <a:latin typeface="Calibri"/>
              </a:rPr>
              <a:t>SAVED
SQLite +
My Farm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0" y="2121408"/>
            <a:ext cx="6263640" cy="438912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06440" y="2167128"/>
            <a:ext cx="60807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INNOVATION:  Multi-stage gating prevents false diagnosis  |  Abstain-not-guess safety  |  ICAR advisory only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0" y="2651760"/>
            <a:ext cx="2029968" cy="804672"/>
          </a:xfrm>
          <a:prstGeom prst="rect">
            <a:avLst/>
          </a:prstGeom>
          <a:solidFill>
            <a:srgbClr val="D4EDDA"/>
          </a:solidFill>
          <a:ln w="1270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24144" y="2688336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3A"/>
                </a:solidFill>
                <a:latin typeface="Calibri"/>
              </a:rPr>
              <a:t>Weather
&amp; Location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24144" y="2953512"/>
            <a:ext cx="1938528" cy="4754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D3A2E"/>
                </a:solidFill>
                <a:latin typeface="Calibri"/>
              </a:rPr>
              <a:t>Open-Meteo + Nominatim
realtime weather &amp; GPS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44968" y="2651760"/>
            <a:ext cx="2029968" cy="804672"/>
          </a:xfrm>
          <a:prstGeom prst="rect">
            <a:avLst/>
          </a:prstGeom>
          <a:solidFill>
            <a:srgbClr val="D4EDDA"/>
          </a:solidFill>
          <a:ln w="1270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99832" y="2688336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3A"/>
                </a:solidFill>
                <a:latin typeface="Calibri"/>
              </a:rPr>
              <a:t>My Farm
Dashboard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99832" y="2953512"/>
            <a:ext cx="1938528" cy="4754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D3A2E"/>
                </a:solidFill>
                <a:latin typeface="Calibri"/>
              </a:rPr>
              <a:t>In-place crop card updates
activity log &amp; health score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20656" y="2651760"/>
            <a:ext cx="2029968" cy="804672"/>
          </a:xfrm>
          <a:prstGeom prst="rect">
            <a:avLst/>
          </a:prstGeom>
          <a:solidFill>
            <a:srgbClr val="D4EDDA"/>
          </a:solidFill>
          <a:ln w="1270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75520" y="2688336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3A"/>
                </a:solidFill>
                <a:latin typeface="Calibri"/>
              </a:rPr>
              <a:t>Govt
Dashboard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75520" y="2953512"/>
            <a:ext cx="1938528" cy="4754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D3A2E"/>
                </a:solidFill>
                <a:latin typeface="Calibri"/>
              </a:rPr>
              <a:t>Aggregate stats, map markers
submission management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0" y="3511296"/>
            <a:ext cx="2029968" cy="804672"/>
          </a:xfrm>
          <a:prstGeom prst="rect">
            <a:avLst/>
          </a:prstGeom>
          <a:solidFill>
            <a:srgbClr val="E8F4FF"/>
          </a:solidFill>
          <a:ln w="1270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24144" y="3547872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3A"/>
                </a:solidFill>
                <a:latin typeface="Calibri"/>
              </a:rPr>
              <a:t>Notify
&amp; Feedback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24144" y="3813048"/>
            <a:ext cx="1938528" cy="4754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D3A2E"/>
                </a:solidFill>
                <a:latin typeface="Calibri"/>
              </a:rPr>
              <a:t>Notification + feedback routes
(/api/notifications, /api/feedback)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44968" y="3511296"/>
            <a:ext cx="2029968" cy="804672"/>
          </a:xfrm>
          <a:prstGeom prst="rect">
            <a:avLst/>
          </a:prstGeom>
          <a:solidFill>
            <a:srgbClr val="E8F4FF"/>
          </a:solidFill>
          <a:ln w="1270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99832" y="3547872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3A"/>
                </a:solidFill>
                <a:latin typeface="Calibri"/>
              </a:rPr>
              <a:t>Risk
Forecast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99832" y="3813048"/>
            <a:ext cx="1938528" cy="4754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D3A2E"/>
                </a:solidFill>
                <a:latin typeface="Calibri"/>
              </a:rPr>
              <a:t>Crop-stage risk assessment
via weather + scan data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820656" y="3511296"/>
            <a:ext cx="2029968" cy="804672"/>
          </a:xfrm>
          <a:prstGeom prst="rect">
            <a:avLst/>
          </a:prstGeom>
          <a:solidFill>
            <a:srgbClr val="E8F4FF"/>
          </a:solidFill>
          <a:ln w="1270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875520" y="3547872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3A"/>
                </a:solidFill>
                <a:latin typeface="Calibri"/>
              </a:rPr>
              <a:t>20 Crops
Catalogue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75520" y="3813048"/>
            <a:ext cx="1938528" cy="4754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D3A2E"/>
                </a:solidFill>
                <a:latin typeface="Calibri"/>
              </a:rPr>
              <a:t>8 with active ML models
12 planned (isModelSupported flag)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1168" y="6263640"/>
            <a:ext cx="11777472" cy="347472"/>
          </a:xfrm>
          <a:prstGeom prst="rect">
            <a:avLst/>
          </a:prstGeom>
          <a:solidFill>
            <a:srgbClr val="FFF9EB"/>
          </a:solidFill>
          <a:ln w="12700">
            <a:solidFill>
              <a:srgbClr val="F59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0040" y="6281928"/>
            <a:ext cx="1156716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45B00"/>
                </a:solidFill>
                <a:latin typeface="Calibri"/>
              </a:rPr>
              <a:t>Note: 8 crops have trained &amp; evaluated MobileNetV3 models. 12 crops are catalogued in UI and marked planned (isModelSupported flag distinguishes them transparently).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F59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E"/>
                </a:solidFill>
                <a:latin typeface="Calibri"/>
              </a:rPr>
              <a:t>SLIDE 3  |  TECHNICAL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7432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Architecture, Technologies &amp; ML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93408"/>
            <a:ext cx="10972800" cy="137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CropGuard  |  SIH 2026  |  Slide 3 of 6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749808"/>
            <a:ext cx="5833872" cy="1389888"/>
          </a:xfrm>
          <a:prstGeom prst="rect">
            <a:avLst/>
          </a:prstGeom>
          <a:solidFill>
            <a:srgbClr val="FFFFFF"/>
          </a:solidFill>
          <a:ln w="25400">
            <a:solidFill>
              <a:srgbClr val="289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749808"/>
            <a:ext cx="109728" cy="1389888"/>
          </a:xfrm>
          <a:prstGeom prst="rect">
            <a:avLst/>
          </a:prstGeom>
          <a:solidFill>
            <a:srgbClr val="28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804672"/>
            <a:ext cx="560527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89B5A"/>
                </a:solidFill>
                <a:latin typeface="Calibri"/>
              </a:rPr>
              <a:t>① FARMER APPLICATION  (React 18 + TypeScript + Vite 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097280"/>
            <a:ext cx="55595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Image upload/camera  (ScanCrop.tsx -- drag-and-drop + file picker)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271016"/>
            <a:ext cx="55595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20-crop catalogue with isModelSupported badge (8 active models)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444752"/>
            <a:ext cx="55595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GPS location + Nominatim reverse geocoding (locationService.ts)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1618488"/>
            <a:ext cx="55595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My Farm dashboard: crop cards, activity log, farm health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1792224"/>
            <a:ext cx="55595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Government dashboard: stats, map markers, submissions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1965960"/>
            <a:ext cx="55595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Risk Forecast view: crop-stage weather-based risk scoring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2139696"/>
            <a:ext cx="55595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Bilingual UI -- English/Marathi (LanguageContext.tsx)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749808"/>
            <a:ext cx="5833872" cy="1389888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749808"/>
            <a:ext cx="109728" cy="1389888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804672"/>
            <a:ext cx="560527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6B3A"/>
                </a:solidFill>
                <a:latin typeface="Calibri"/>
              </a:rPr>
              <a:t>② BACKEND API  (FastAPI 0.110+ Python 3.10+ Port 8000)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097280"/>
            <a:ext cx="55595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POST /api/scan -- 4-phase ML pipeline endpoint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271016"/>
            <a:ext cx="55595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GET/DELETE /api/scans/history -- scan history CRUD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444752"/>
            <a:ext cx="55595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POST /api/auth/signup  /api/auth/login -- JWT auth via MongoDB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618488"/>
            <a:ext cx="55595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GET /api/stats  /submissions  /map-markers -- govt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1792224"/>
            <a:ext cx="55595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POST/GET /api/risk-forecasts  /advisories -- advisory persistence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1965960"/>
            <a:ext cx="55595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StaticFiles: /uploads/scan_history/ -- UUID-sanitised image storage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" y="2194560"/>
            <a:ext cx="5833872" cy="1389888"/>
          </a:xfrm>
          <a:prstGeom prst="rect">
            <a:avLst/>
          </a:prstGeom>
          <a:solidFill>
            <a:srgbClr val="FFFFFF"/>
          </a:solidFill>
          <a:ln w="25400">
            <a:solidFill>
              <a:srgbClr val="0E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1168" y="2194560"/>
            <a:ext cx="109728" cy="1389888"/>
          </a:xfrm>
          <a:prstGeom prst="rect">
            <a:avLst/>
          </a:prstGeom>
          <a:solidFill>
            <a:srgbClr val="0E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249424"/>
            <a:ext cx="560527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E7A8A"/>
                </a:solidFill>
                <a:latin typeface="Calibri"/>
              </a:rPr>
              <a:t>③ ML PIPELINE  (PyTorch 2.0+ HuggingFace Transformers)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2542032"/>
            <a:ext cx="55595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Phase 1 -- Quality Gate: MIME check, resolution &gt;= 100x100 px, Laplacian sharpness &gt;= 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2715768"/>
            <a:ext cx="55595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Phase 2 -- Plant Filter: MobileNetV2 ImageNet-1K (crop_relevance.py)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2889504"/>
            <a:ext cx="55595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Phase 3A -- Crop ID: CLIP ViT-B/32 multi-prompt ensemble (crop_identification.py)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3063240"/>
            <a:ext cx="55595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Phase 3B -- Disease: MobileNetV3-Large per-crop (8 trained models, 4-5 classes each)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3236976"/>
            <a:ext cx="55595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Abstain: Shannon entropy H(p)&gt;0.70*ln(K)  OR  top-2 margin &lt; 0.05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3410712"/>
            <a:ext cx="55595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Advisory: ICAR knowledge base lookup (ml/advisory.py)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2194560"/>
            <a:ext cx="5833872" cy="1389888"/>
          </a:xfrm>
          <a:prstGeom prst="rect">
            <a:avLst/>
          </a:prstGeom>
          <a:solidFill>
            <a:srgbClr val="FFFFFF"/>
          </a:solidFill>
          <a:ln w="25400">
            <a:solidFill>
              <a:srgbClr val="5B3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26480" y="2194560"/>
            <a:ext cx="109728" cy="1389888"/>
          </a:xfrm>
          <a:prstGeom prst="rect">
            <a:avLst/>
          </a:prstGeom>
          <a:solidFill>
            <a:srgbClr val="5B3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2" y="2249424"/>
            <a:ext cx="560527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B3AB5"/>
                </a:solidFill>
                <a:latin typeface="Calibri"/>
              </a:rPr>
              <a:t>④ DATA &amp; PERSISTENCE  (SQLite MongoDB Open APIs)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2542032"/>
            <a:ext cx="55595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submissions.db (SQLite) -- dual-table: scan_history + submissions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2715768"/>
            <a:ext cx="55595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MongoDB -- user auth, farm records, risk forecasts, advisories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2889504"/>
            <a:ext cx="55595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Open-Meteo API -- realtime weather (temp, humidity, precipitation, wind)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3063240"/>
            <a:ext cx="55595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Nominatim (OSM) -- free reverse geocoding (no API key needed)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3236976"/>
            <a:ext cx="55595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Image storage: backend/uploads/scan_history/ (UUID-named files)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1168" y="2980944"/>
            <a:ext cx="11777472" cy="402336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3035808"/>
            <a:ext cx="11521440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FFFFF"/>
                </a:solidFill>
                <a:latin typeface="Calibri"/>
              </a:rPr>
              <a:t>TECH STACK:   React 18  TypeScript  Vite 8  FastAPI  PyTorch 2.0+  MobileNetV2  CLIP ViT-B/32  MobileNetV3-Large  SQLite  MongoDB  Pillow  react-leaflet  Open-Meteo  Nominatim  HuggingFace  NumPy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3493008"/>
            <a:ext cx="1920240" cy="1115568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8600" y="353872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8600" y="4005072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FFFFFF"/>
                </a:solidFill>
                <a:latin typeface="Calibri"/>
              </a:rPr>
              <a:t>Trained MobileNetV3
Crop Models (.pth)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21992" y="3493008"/>
            <a:ext cx="1920240" cy="1115568"/>
          </a:xfrm>
          <a:prstGeom prst="rect">
            <a:avLst/>
          </a:prstGeom>
          <a:solidFill>
            <a:srgbClr val="28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21992" y="353872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4-5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21992" y="4005072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FFFFFF"/>
                </a:solidFill>
                <a:latin typeface="Calibri"/>
              </a:rPr>
              <a:t>Disease Classes
per Crop (incl. Healthy)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15384" y="3493008"/>
            <a:ext cx="1920240" cy="1115568"/>
          </a:xfrm>
          <a:prstGeom prst="rect">
            <a:avLst/>
          </a:prstGeom>
          <a:solidFill>
            <a:srgbClr val="0E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15384" y="353872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93.4%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15384" y="4005072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FFFFFF"/>
                </a:solidFill>
                <a:latin typeface="Calibri"/>
              </a:rPr>
              <a:t>Real-dataset Accuracy
(Maize, 394 test samples)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08776" y="3493008"/>
            <a:ext cx="1920240" cy="1115568"/>
          </a:xfrm>
          <a:prstGeom prst="rect">
            <a:avLst/>
          </a:prstGeom>
          <a:solidFill>
            <a:srgbClr val="5B3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08776" y="353872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08776" y="4005072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FFFFFF"/>
                </a:solidFill>
                <a:latin typeface="Calibri"/>
              </a:rPr>
              <a:t>Held-out Split Accuracy
(8 crops, 25 samples each)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02168" y="3493008"/>
            <a:ext cx="1920240" cy="1115568"/>
          </a:xfrm>
          <a:prstGeom prst="rect">
            <a:avLst/>
          </a:prstGeom>
          <a:solidFill>
            <a:srgbClr val="F59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02168" y="353872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02168" y="4005072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FFFFFF"/>
                </a:solidFill>
                <a:latin typeface="Calibri"/>
              </a:rPr>
              <a:t>Maharashtra Crops
Catalogued in UI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195560" y="3493008"/>
            <a:ext cx="1920240" cy="1115568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95560" y="353872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8/8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95560" y="4005072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FFFFFF"/>
                </a:solidFill>
                <a:latin typeface="Calibri"/>
              </a:rPr>
              <a:t>E2E Integration Tests
PASSED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8600" y="4700016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6B3A"/>
                </a:solidFill>
                <a:latin typeface="Calibri"/>
              </a:rPr>
              <a:t>ML INFERENCE FLOW  (POST /api/scan):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1168" y="4992624"/>
            <a:ext cx="1627632" cy="86868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1168" y="5129784"/>
            <a:ext cx="1627632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Quality
Gate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28800" y="5294376"/>
            <a:ext cx="128016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6B3A"/>
                </a:solidFill>
                <a:latin typeface="Calibri"/>
              </a:rPr>
              <a:t>&gt;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56816" y="4992624"/>
            <a:ext cx="1627632" cy="868680"/>
          </a:xfrm>
          <a:prstGeom prst="rect">
            <a:avLst/>
          </a:prstGeom>
          <a:solidFill>
            <a:srgbClr val="28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956816" y="5129784"/>
            <a:ext cx="1627632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Plant
Filter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84448" y="5294376"/>
            <a:ext cx="128016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6B3A"/>
                </a:solidFill>
                <a:latin typeface="Calibri"/>
              </a:rPr>
              <a:t>&gt;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712464" y="4992624"/>
            <a:ext cx="1627632" cy="868680"/>
          </a:xfrm>
          <a:prstGeom prst="rect">
            <a:avLst/>
          </a:prstGeom>
          <a:solidFill>
            <a:srgbClr val="0E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712464" y="5129784"/>
            <a:ext cx="1627632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Crop
ID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40096" y="5294376"/>
            <a:ext cx="128016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6B3A"/>
                </a:solidFill>
                <a:latin typeface="Calibri"/>
              </a:rPr>
              <a:t>&gt;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68112" y="4992624"/>
            <a:ext cx="1627632" cy="86868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68112" y="5129784"/>
            <a:ext cx="1627632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Disease
Check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95744" y="5294376"/>
            <a:ext cx="128016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6B3A"/>
                </a:solidFill>
                <a:latin typeface="Calibri"/>
              </a:rPr>
              <a:t>&gt;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223760" y="4992624"/>
            <a:ext cx="1627632" cy="868680"/>
          </a:xfrm>
          <a:prstGeom prst="rect">
            <a:avLst/>
          </a:prstGeom>
          <a:solidFill>
            <a:srgbClr val="B4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223760" y="5129784"/>
            <a:ext cx="1627632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Abstain
Check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51392" y="5294376"/>
            <a:ext cx="128016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6B3A"/>
                </a:solidFill>
                <a:latin typeface="Calibri"/>
              </a:rPr>
              <a:t>&gt;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979408" y="4992624"/>
            <a:ext cx="1627632" cy="868680"/>
          </a:xfrm>
          <a:prstGeom prst="rect">
            <a:avLst/>
          </a:prstGeom>
          <a:solidFill>
            <a:srgbClr val="28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979408" y="5129784"/>
            <a:ext cx="1627632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ICAR
Advisory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607040" y="5294376"/>
            <a:ext cx="128016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6B3A"/>
                </a:solidFill>
                <a:latin typeface="Calibri"/>
              </a:rPr>
              <a:t>&gt;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735056" y="4992624"/>
            <a:ext cx="1627632" cy="868680"/>
          </a:xfrm>
          <a:prstGeom prst="rect">
            <a:avLst/>
          </a:prstGeom>
          <a:solidFill>
            <a:srgbClr val="5B3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735056" y="5129784"/>
            <a:ext cx="1627632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SQLite
Persist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01168" y="5687568"/>
            <a:ext cx="11777472" cy="274320"/>
          </a:xfrm>
          <a:prstGeom prst="rect">
            <a:avLst/>
          </a:prstGeom>
          <a:solidFill>
            <a:srgbClr val="D4EDDA"/>
          </a:solidFill>
          <a:ln w="1270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20040" y="5705856"/>
            <a:ext cx="11521440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6B3A"/>
                </a:solidFill>
                <a:latin typeface="Calibri"/>
              </a:rPr>
              <a:t>EVIDENCE:  8x .pth model files in saved_models/  |  All 8 E2E tests PASS (test_e2e_pipeline.py)  |  FastAPI Swagger at /docs  |  TypeScript build verified  |  metadata.json per model (training date, classes, accuracy)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F59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E"/>
                </a:solidFill>
                <a:latin typeface="Calibri"/>
              </a:rPr>
              <a:t>SLIDE 4  |  FEASIBILITY AND VIABILITY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7432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Challenges, Mitigations &amp; Demonstrated Feasibility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93408"/>
            <a:ext cx="10972800" cy="137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CropGuard  |  SIH 2026  |  Slide 4 of 6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749808"/>
            <a:ext cx="11777472" cy="420624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777240"/>
            <a:ext cx="115214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DEMONSTRATED:  Full prototype running  |  8 trained MobileNetV3 models (.pth verified)  |  All 8 E2E tests PASS  |  TypeScript build verified  |  Real-dataset accuracy 93.4% (Maize, 394 test samples)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1005840"/>
            <a:ext cx="9902952" cy="256032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" y="1024128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1024128"/>
            <a:ext cx="28803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7176" y="1024128"/>
            <a:ext cx="4251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MITIGATION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024128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1261872"/>
            <a:ext cx="160020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1298448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B3A"/>
                </a:solidFill>
                <a:latin typeface="Calibri"/>
              </a:rPr>
              <a:t>[IMG]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" y="1298448"/>
            <a:ext cx="1207008" cy="7223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6B3A"/>
                </a:solidFill>
                <a:latin typeface="Calibri"/>
              </a:rPr>
              <a:t>Model Generalization
across Field Conditions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56232" y="1261872"/>
            <a:ext cx="288036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11096" y="1298448"/>
            <a:ext cx="2788920" cy="7223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D3A2E"/>
                </a:solidFill>
                <a:latin typeface="Calibri"/>
              </a:rPr>
              <a:t>PlantVillage lab images differ from in-field photos (lighting, soil, angles).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91456" y="1261872"/>
            <a:ext cx="425196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1289304"/>
            <a:ext cx="4160520" cy="7406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D3A2E"/>
                </a:solidFill>
                <a:latin typeface="Calibri"/>
              </a:rPr>
              <a:t>Quality gate rejects blurry/dark inputs | CLIP multi-prompt ensemble | Data augmentation (flip, rotation, color jitter, erasing) | Abstain logic: uncertain cases -&gt; expert verification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1261872"/>
            <a:ext cx="100584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1517904"/>
            <a:ext cx="950976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89B5A"/>
                </a:solidFill>
                <a:latin typeface="Calibri"/>
              </a:rPr>
              <a:t>IMPLEMENTED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2093976"/>
            <a:ext cx="1600200" cy="795528"/>
          </a:xfrm>
          <a:prstGeom prst="rect">
            <a:avLst/>
          </a:prstGeom>
          <a:solidFill>
            <a:srgbClr val="D4EDDA"/>
          </a:solidFill>
          <a:ln w="635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" y="2130552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B3A"/>
                </a:solidFill>
                <a:latin typeface="Calibri"/>
              </a:rPr>
              <a:t>[PKG]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" y="2130552"/>
            <a:ext cx="1207008" cy="7223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6B3A"/>
                </a:solidFill>
                <a:latin typeface="Calibri"/>
              </a:rPr>
              <a:t>Dataset Coverage
&amp; Balance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56232" y="2093976"/>
            <a:ext cx="2880360" cy="795528"/>
          </a:xfrm>
          <a:prstGeom prst="rect">
            <a:avLst/>
          </a:prstGeom>
          <a:solidFill>
            <a:srgbClr val="D4EDDA"/>
          </a:solidFill>
          <a:ln w="635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11096" y="2130552"/>
            <a:ext cx="2788920" cy="7223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D3A2E"/>
                </a:solidFill>
                <a:latin typeface="Calibri"/>
              </a:rPr>
              <a:t>8 crops have trained models (4-5 classes each). 12 crops lack trained models.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91456" y="2093976"/>
            <a:ext cx="4251960" cy="795528"/>
          </a:xfrm>
          <a:prstGeom prst="rect">
            <a:avLst/>
          </a:prstGeom>
          <a:solidFill>
            <a:srgbClr val="D4EDDA"/>
          </a:solidFill>
          <a:ln w="635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2121408"/>
            <a:ext cx="4160520" cy="7406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D3A2E"/>
                </a:solidFill>
                <a:latin typeface="Calibri"/>
              </a:rPr>
              <a:t>ICAR + PlantVillage sources documented (CROP_DATA_SOURCES.md) | isModelSupported flag clearly marks each crop | Canonical mapping enforces consistent class names | HuggingFace/SAGE datasets identified for future crops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98280" y="2093976"/>
            <a:ext cx="1005840" cy="795528"/>
          </a:xfrm>
          <a:prstGeom prst="rect">
            <a:avLst/>
          </a:prstGeom>
          <a:solidFill>
            <a:srgbClr val="D4EDDA"/>
          </a:solidFill>
          <a:ln w="635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34856" y="2350008"/>
            <a:ext cx="950976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E"/>
                </a:solidFill>
                <a:latin typeface="Calibri"/>
              </a:rPr>
              <a:t>PARTIAL (8/20)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2926080"/>
            <a:ext cx="160020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" y="2962656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B3A"/>
                </a:solidFill>
                <a:latin typeface="Calibri"/>
              </a:rPr>
              <a:t>[SIG]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" y="2962656"/>
            <a:ext cx="1207008" cy="7223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6B3A"/>
                </a:solidFill>
                <a:latin typeface="Calibri"/>
              </a:rPr>
              <a:t>Connectivity &amp;
Device Accessibility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56232" y="2926080"/>
            <a:ext cx="288036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11096" y="2962656"/>
            <a:ext cx="2788920" cy="7223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D3A2E"/>
                </a:solidFill>
                <a:latin typeface="Calibri"/>
              </a:rPr>
              <a:t>Rural farmers may have limited mobile data, older smartphones, low digital literacy.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91456" y="2926080"/>
            <a:ext cx="425196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2953512"/>
            <a:ext cx="4160520" cy="7406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D3A2E"/>
                </a:solidFill>
                <a:latin typeface="Calibri"/>
              </a:rPr>
              <a:t>Web app runs in any browser - no install needed | Max 10 MB upload | Open-Meteo graceful fallback when offline | Location field is optional | [PLANNED] PWA offline support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98280" y="2926080"/>
            <a:ext cx="100584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34856" y="3182112"/>
            <a:ext cx="950976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E"/>
                </a:solidFill>
                <a:latin typeface="Calibri"/>
              </a:rPr>
              <a:t>PARTIAL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1168" y="3758184"/>
            <a:ext cx="1600200" cy="795528"/>
          </a:xfrm>
          <a:prstGeom prst="rect">
            <a:avLst/>
          </a:prstGeom>
          <a:solidFill>
            <a:srgbClr val="D4EDDA"/>
          </a:solidFill>
          <a:ln w="635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6032" y="3794760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B3A"/>
                </a:solidFill>
                <a:latin typeface="Calibri"/>
              </a:rPr>
              <a:t>[MIC]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496" y="3794760"/>
            <a:ext cx="1207008" cy="7223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6B3A"/>
                </a:solidFill>
                <a:latin typeface="Calibri"/>
              </a:rPr>
              <a:t>Advisory Reliability
&amp; Safety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56232" y="3758184"/>
            <a:ext cx="2880360" cy="795528"/>
          </a:xfrm>
          <a:prstGeom prst="rect">
            <a:avLst/>
          </a:prstGeom>
          <a:solidFill>
            <a:srgbClr val="D4EDDA"/>
          </a:solidFill>
          <a:ln w="635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11096" y="3794760"/>
            <a:ext cx="2788920" cy="7223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D3A2E"/>
                </a:solidFill>
                <a:latin typeface="Calibri"/>
              </a:rPr>
              <a:t>Incorrect pesticide guidance could harm farmers, crops or the environment.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91456" y="3758184"/>
            <a:ext cx="4251960" cy="795528"/>
          </a:xfrm>
          <a:prstGeom prst="rect">
            <a:avLst/>
          </a:prstGeom>
          <a:solidFill>
            <a:srgbClr val="D4EDDA"/>
          </a:solidFill>
          <a:ln w="635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46320" y="3785616"/>
            <a:ext cx="4160520" cy="7406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D3A2E"/>
                </a:solidFill>
                <a:latin typeface="Calibri"/>
              </a:rPr>
              <a:t>Advisories from ICAR exclusively | Statutory safety notices included | Abstains rather than hallucinates | TNAU/PAU references verified | No arbitrary dosages or unverified chemical combinations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98280" y="3758184"/>
            <a:ext cx="1005840" cy="795528"/>
          </a:xfrm>
          <a:prstGeom prst="rect">
            <a:avLst/>
          </a:prstGeom>
          <a:solidFill>
            <a:srgbClr val="D4EDDA"/>
          </a:solidFill>
          <a:ln w="635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34856" y="4014216"/>
            <a:ext cx="950976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89B5A"/>
                </a:solidFill>
                <a:latin typeface="Calibri"/>
              </a:rPr>
              <a:t>IMPLEMENTED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1168" y="4590288"/>
            <a:ext cx="160020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56032" y="4626864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B3A"/>
                </a:solidFill>
                <a:latin typeface="Calibri"/>
              </a:rPr>
              <a:t>[CHT]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496" y="4626864"/>
            <a:ext cx="1207008" cy="7223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6B3A"/>
                </a:solidFill>
                <a:latin typeface="Calibri"/>
              </a:rPr>
              <a:t>Scalability &amp;
Deployment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56232" y="4590288"/>
            <a:ext cx="288036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11096" y="4626864"/>
            <a:ext cx="2788920" cy="7223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D3A2E"/>
                </a:solidFill>
                <a:latin typeface="Calibri"/>
              </a:rPr>
              <a:t>Local SQLite + filesystem will not scale to thousands of concurrent users.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91456" y="4590288"/>
            <a:ext cx="425196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46320" y="4617720"/>
            <a:ext cx="4160520" cy="7406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D3A2E"/>
                </a:solidFill>
                <a:latin typeface="Calibri"/>
              </a:rPr>
              <a:t>MongoDB already integrated for user/farm/advisory data | FastAPI async architecture supports horizontal scaling | Static file serving decoupled | [PLANNED] Cloud deployment for SIH pilot phase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98280" y="4590288"/>
            <a:ext cx="100584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34856" y="4846320"/>
            <a:ext cx="950976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E"/>
                </a:solidFill>
                <a:latin typeface="Calibri"/>
              </a:rPr>
              <a:t>PARTIAL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1168" y="5422392"/>
            <a:ext cx="1600200" cy="795528"/>
          </a:xfrm>
          <a:prstGeom prst="rect">
            <a:avLst/>
          </a:prstGeom>
          <a:solidFill>
            <a:srgbClr val="D4EDDA"/>
          </a:solidFill>
          <a:ln w="635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56032" y="5458968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B3A"/>
                </a:solidFill>
                <a:latin typeface="Calibri"/>
              </a:rPr>
              <a:t>[THR]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9496" y="5458968"/>
            <a:ext cx="1207008" cy="7223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6B3A"/>
                </a:solidFill>
                <a:latin typeface="Calibri"/>
              </a:rPr>
              <a:t>Weather &amp; Location
Data Reliability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56232" y="5422392"/>
            <a:ext cx="2880360" cy="795528"/>
          </a:xfrm>
          <a:prstGeom prst="rect">
            <a:avLst/>
          </a:prstGeom>
          <a:solidFill>
            <a:srgbClr val="D4EDDA"/>
          </a:solidFill>
          <a:ln w="635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911096" y="5458968"/>
            <a:ext cx="2788920" cy="7223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D3A2E"/>
                </a:solidFill>
                <a:latin typeface="Calibri"/>
              </a:rPr>
              <a:t>GPS unreliable in remote areas; weather APIs need internet connectivity.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791456" y="5422392"/>
            <a:ext cx="4251960" cy="795528"/>
          </a:xfrm>
          <a:prstGeom prst="rect">
            <a:avLst/>
          </a:prstGeom>
          <a:solidFill>
            <a:srgbClr val="D4EDDA"/>
          </a:solidFill>
          <a:ln w="635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846320" y="5449824"/>
            <a:ext cx="4160520" cy="7406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D3A2E"/>
                </a:solidFill>
                <a:latin typeface="Calibri"/>
              </a:rPr>
              <a:t>Browser Geolocation API (no hardware needed) | Nominatim free/no API key | Open-Meteo fallback to estimated values | Location optional in scan form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98280" y="5422392"/>
            <a:ext cx="1005840" cy="795528"/>
          </a:xfrm>
          <a:prstGeom prst="rect">
            <a:avLst/>
          </a:prstGeom>
          <a:solidFill>
            <a:srgbClr val="D4EDDA"/>
          </a:solidFill>
          <a:ln w="635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34856" y="5678424"/>
            <a:ext cx="950976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89B5A"/>
                </a:solidFill>
                <a:latin typeface="Calibri"/>
              </a:rPr>
              <a:t>IMPLEMENTED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1168" y="6291072"/>
            <a:ext cx="11777472" cy="310896"/>
          </a:xfrm>
          <a:prstGeom prst="rect">
            <a:avLst/>
          </a:prstGeom>
          <a:solidFill>
            <a:srgbClr val="FFF9EB"/>
          </a:solidFill>
          <a:ln w="12700">
            <a:solidFill>
              <a:srgbClr val="F59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6309360"/>
            <a:ext cx="115214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B45B00"/>
                </a:solidFill>
                <a:latin typeface="Calibri"/>
              </a:rPr>
              <a:t>[PLANNED] items require field validation, additional training data &amp; infrastructure. IMPLEMENTED claims are supported by repository code and passing integration tests.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F59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E"/>
                </a:solidFill>
                <a:latin typeface="Calibri"/>
              </a:rPr>
              <a:t>SLIDE 5  |  IMPACT AND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7432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Intended Impact on Farmers, Society &amp; Agriculture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93408"/>
            <a:ext cx="10972800" cy="137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CropGuard  |  SIH 2026  |  Slide 5 of 6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749808"/>
            <a:ext cx="11777472" cy="384048"/>
          </a:xfrm>
          <a:prstGeom prst="rect">
            <a:avLst/>
          </a:prstGeom>
          <a:solidFill>
            <a:srgbClr val="D4EDDA"/>
          </a:solidFill>
          <a:ln w="1270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768096"/>
            <a:ext cx="115214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6B3A"/>
                </a:solidFill>
                <a:latin typeface="Calibri"/>
              </a:rPr>
              <a:t>PRIMARY BENEFICIARIES:  Smallholder &amp; marginal farmers (avg. &lt;2 ha, Maharashtra)  |  Agricultural extension officers  |  State crop health monitoring units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1234440"/>
            <a:ext cx="576072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1168" y="1234440"/>
            <a:ext cx="128016" cy="233172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" y="1234440"/>
            <a:ext cx="5632704" cy="32004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261872"/>
            <a:ext cx="55321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FARMER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160020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Earlier disease awareness before visible crop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" y="184708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Field-ready diagnosis without waiting for extension officer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" y="209397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Structured action plan: cultural, organic &amp; chemical options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" y="234086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Severity assessment (None / Mild / Moderate / Severe)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" y="258775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Persistent scan history -- review all past diagnoses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" y="283464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My Farm dashboard tracks overall farm health over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" y="308152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Supports 20 Maharashtra crops with bilingual interface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" y="3346704"/>
            <a:ext cx="5632704" cy="201168"/>
          </a:xfrm>
          <a:prstGeom prst="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364992"/>
            <a:ext cx="55321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20" b="0" i="1">
                <a:solidFill>
                  <a:srgbClr val="B45B00"/>
                </a:solidFill>
                <a:latin typeface="Calibri"/>
              </a:rPr>
              <a:t>Note: Expected benefit -- field validation pending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234440"/>
            <a:ext cx="576072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92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234440"/>
            <a:ext cx="128016" cy="2331720"/>
          </a:xfrm>
          <a:prstGeom prst="rect">
            <a:avLst/>
          </a:prstGeom>
          <a:solidFill>
            <a:srgbClr val="92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72784" y="1234440"/>
            <a:ext cx="5632704" cy="320040"/>
          </a:xfrm>
          <a:prstGeom prst="rect">
            <a:avLst/>
          </a:prstGeom>
          <a:solidFill>
            <a:srgbClr val="92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1261872"/>
            <a:ext cx="55321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ECONOMIC BENEFIT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160020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May reduce unnecessary blanket pesticide applications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184708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Targeted interventions may lower input costs per cycle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5936" y="209397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Timely diagnosis may limit severity of disease spread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5936" y="234086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Supports Rabi, Kharif &amp; year-round crop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5936" y="258775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Free, browser-accessible service -- no subscription cost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5936" y="283464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Aligned with ICAR extension guidance (reduces advisory gap)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72784" y="3346704"/>
            <a:ext cx="5632704" cy="201168"/>
          </a:xfrm>
          <a:prstGeom prst="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3364992"/>
            <a:ext cx="55321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20" b="0" i="1">
                <a:solidFill>
                  <a:srgbClr val="B45B00"/>
                </a:solidFill>
                <a:latin typeface="Calibri"/>
              </a:rPr>
              <a:t>Note: Potential -- no measured economic outcomes yet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168" y="3639312"/>
            <a:ext cx="576072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E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1168" y="3639312"/>
            <a:ext cx="128016" cy="2331720"/>
          </a:xfrm>
          <a:prstGeom prst="rect">
            <a:avLst/>
          </a:prstGeom>
          <a:solidFill>
            <a:srgbClr val="0E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9184" y="3639312"/>
            <a:ext cx="5632704" cy="320040"/>
          </a:xfrm>
          <a:prstGeom prst="rect">
            <a:avLst/>
          </a:prstGeom>
          <a:solidFill>
            <a:srgbClr val="0E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3666744"/>
            <a:ext cx="55321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ENVIRONMENTAL BENEFIT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336" y="400507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Targeted spraying may reduce chemical overuse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336" y="425196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Cultural management steps recommended first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" y="449884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Weather integration for informed field-operation timing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2336" y="474573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Minimises interventions on healthy crops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2336" y="499262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Supports IPM (Integrated Pest Management) principles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2336" y="52395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Abstain logic prevents misguided chemical applications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9184" y="5751576"/>
            <a:ext cx="5632704" cy="201168"/>
          </a:xfrm>
          <a:prstGeom prst="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5769864"/>
            <a:ext cx="55321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20" b="0" i="1">
                <a:solidFill>
                  <a:srgbClr val="B45B00"/>
                </a:solidFill>
                <a:latin typeface="Calibri"/>
              </a:rPr>
              <a:t>Note: Potential -- not yet quantified in field trials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44768" y="3639312"/>
            <a:ext cx="576072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5B3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44768" y="3639312"/>
            <a:ext cx="128016" cy="2331720"/>
          </a:xfrm>
          <a:prstGeom prst="rect">
            <a:avLst/>
          </a:prstGeom>
          <a:solidFill>
            <a:srgbClr val="5B3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72784" y="3639312"/>
            <a:ext cx="5632704" cy="320040"/>
          </a:xfrm>
          <a:prstGeom prst="rect">
            <a:avLst/>
          </a:prstGeom>
          <a:solidFill>
            <a:srgbClr val="5B3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27648" y="3666744"/>
            <a:ext cx="55321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SOCIAL &amp; SYSTEMIC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45936" y="400507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Reduces dependence on single extension officer per district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45936" y="425196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Government dashboard: aggregate crop health visibility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45936" y="449884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Submissions tracked: Pending -&gt; Assigned -&gt; Resolved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45936" y="474573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Map-based disease cluster identification (MaharashtraMap.tsx)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45936" y="499262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Team management &amp; district analytics for officials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45936" y="52395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Bilingual support improves access for non-English farmers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45936" y="548640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2D3A2E"/>
                </a:solidFill>
                <a:latin typeface="Calibri"/>
              </a:rPr>
              <a:t>  Aligns with Digital Agriculture Mission 2.0 / AgriStack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72784" y="5751576"/>
            <a:ext cx="5632704" cy="201168"/>
          </a:xfrm>
          <a:prstGeom prst="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27648" y="5769864"/>
            <a:ext cx="55321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20" b="0" i="1">
                <a:solidFill>
                  <a:srgbClr val="B45B00"/>
                </a:solidFill>
                <a:latin typeface="Calibri"/>
              </a:rPr>
              <a:t>Note: Depends on adoption, connectivity &amp; field deployment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1168" y="6053328"/>
            <a:ext cx="11777472" cy="530352"/>
          </a:xfrm>
          <a:prstGeom prst="rect">
            <a:avLst/>
          </a:prstGeom>
          <a:solidFill>
            <a:srgbClr val="FFF9EB"/>
          </a:solidFill>
          <a:ln w="12700">
            <a:solidFill>
              <a:srgbClr val="F59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0040" y="6071616"/>
            <a:ext cx="11521440" cy="4937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05000"/>
                </a:solidFill>
                <a:latin typeface="Calibri"/>
              </a:rPr>
              <a:t>ACCURACY STATEMENT:  All benefits are intended/expected outcomes from the system design and ICAR guidance. No farmer adoption counts, yield increases, cost savings or environmental statistics have been invented. These require structured field pilot evaluation.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F59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E"/>
                </a:solidFill>
                <a:latin typeface="Calibri"/>
              </a:rPr>
              <a:t>SLIDE 6  |  RESEARCH AND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7432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Data Sources, Datasets, APIs &amp; Research Foundations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93408"/>
            <a:ext cx="10972800" cy="137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CropGuard  |  SIH 2026  |  Slide 6 of 6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777240"/>
            <a:ext cx="5742432" cy="2542032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777240"/>
            <a:ext cx="5742432" cy="237744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804672"/>
            <a:ext cx="5632704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GOVERNMENT &amp; AUTHORITATIVE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1051560"/>
            <a:ext cx="560527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1A6B3A"/>
                </a:solidFill>
                <a:latin typeface="Calibri"/>
              </a:rPr>
              <a:t>ICAR -- Indian Council of Agricultural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1234440"/>
            <a:ext cx="560527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A2E"/>
                </a:solidFill>
                <a:latin typeface="Calibri"/>
              </a:rPr>
              <a:t>Primary advisory, disease taxonomy &amp; cultural field management references.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1417320"/>
            <a:ext cx="5605272" cy="1554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08509B"/>
                </a:solidFill>
                <a:latin typeface="Calibri"/>
              </a:rPr>
              <a:t>https://icar.org.in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1618488"/>
            <a:ext cx="560527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1A6B3A"/>
                </a:solidFill>
                <a:latin typeface="Calibri"/>
              </a:rPr>
              <a:t>Open Government Data Platform India (data.gov.in)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1801368"/>
            <a:ext cx="560527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A2E"/>
                </a:solidFill>
                <a:latin typeface="Calibri"/>
              </a:rPr>
              <a:t>OGDL-India licensed crop disease &amp; pest image data. Role: primary dataset source.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" y="1984248"/>
            <a:ext cx="5605272" cy="1554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08509B"/>
                </a:solidFill>
                <a:latin typeface="Calibri"/>
              </a:rPr>
              <a:t>https://data.gov.in  (accessed September 2026)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2185416"/>
            <a:ext cx="560527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1A6B3A"/>
                </a:solidFill>
                <a:latin typeface="Calibri"/>
              </a:rPr>
              <a:t>TNAU Agritech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" y="2368296"/>
            <a:ext cx="560527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A2E"/>
                </a:solidFill>
                <a:latin typeface="Calibri"/>
              </a:rPr>
              <a:t>Supplementary crop disease management &amp; pesticide safety guidelines.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2551176"/>
            <a:ext cx="5605272" cy="1554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08509B"/>
                </a:solidFill>
                <a:latin typeface="Calibri"/>
              </a:rPr>
              <a:t>https://agritech.tnau.ac.in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777240"/>
            <a:ext cx="5742432" cy="1938528"/>
          </a:xfrm>
          <a:prstGeom prst="rect">
            <a:avLst/>
          </a:prstGeom>
          <a:solidFill>
            <a:srgbClr val="FFFFFF"/>
          </a:solidFill>
          <a:ln w="19050">
            <a:solidFill>
              <a:srgbClr val="0E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777240"/>
            <a:ext cx="5742432" cy="237744"/>
          </a:xfrm>
          <a:prstGeom prst="rect">
            <a:avLst/>
          </a:prstGeom>
          <a:solidFill>
            <a:srgbClr val="0E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804672"/>
            <a:ext cx="5632704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DATASETS &amp; 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1051560"/>
            <a:ext cx="560527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0E7A8A"/>
                </a:solidFill>
                <a:latin typeface="Calibri"/>
              </a:rPr>
              <a:t>PlantVillage Dataset (Penn State / EPFL / CrowdAI)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1234440"/>
            <a:ext cx="560527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A2E"/>
                </a:solidFill>
                <a:latin typeface="Calibri"/>
              </a:rPr>
              <a:t>License: CC BY-SA 4.0. HuggingFace: osunlp/PlantVillage. Secondary academic benchmark -- NOT claimed as ICAR data.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1417320"/>
            <a:ext cx="5605272" cy="1554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08509B"/>
                </a:solidFill>
                <a:latin typeface="Calibri"/>
              </a:rPr>
              <a:t>https://github.com/spMohanty/PlantVillage-Dataset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1618488"/>
            <a:ext cx="560527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0E7A8A"/>
                </a:solidFill>
                <a:latin typeface="Calibri"/>
              </a:rPr>
              <a:t>ICAR IndiaAI Crop Disease Dataset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1801368"/>
            <a:ext cx="560527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A2E"/>
                </a:solidFill>
                <a:latin typeface="Calibri"/>
              </a:rPr>
              <a:t>Primary dataset for Indian crops (Maize, Rice, Wheat, Cotton, Tomato, Soybean, Chickpea, Sugarcane). Accessed via data.gov.in OGDL-India.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1984248"/>
            <a:ext cx="5605272" cy="1554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08509B"/>
                </a:solidFill>
                <a:latin typeface="Calibri"/>
              </a:rPr>
              <a:t>https://data.gov.in  (September 2026)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" y="3410712"/>
            <a:ext cx="5742432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89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01168" y="3410712"/>
            <a:ext cx="5742432" cy="237744"/>
          </a:xfrm>
          <a:prstGeom prst="rect">
            <a:avLst/>
          </a:prstGeom>
          <a:solidFill>
            <a:srgbClr val="28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3438144"/>
            <a:ext cx="5632704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ML MODELS &amp; FRAMEWORKS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" y="3685032"/>
            <a:ext cx="560527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289B5A"/>
                </a:solidFill>
                <a:latin typeface="Calibri"/>
              </a:rPr>
              <a:t>CLIP -- Radford et al. (2021). 'Learning Transferable Visual Models'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" y="3867912"/>
            <a:ext cx="560527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A2E"/>
                </a:solidFill>
                <a:latin typeface="Calibri"/>
              </a:rPr>
              <a:t>Crop species identification via CLIP ViT-B/32 multi-prompt ensemble. HuggingFace: openai/clip-vit-base-patch32.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" y="4050792"/>
            <a:ext cx="5605272" cy="1554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08509B"/>
                </a:solidFill>
                <a:latin typeface="Calibri"/>
              </a:rPr>
              <a:t>https://openai.com/research/clip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" y="4251960"/>
            <a:ext cx="560527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289B5A"/>
                </a:solidFill>
                <a:latin typeface="Calibri"/>
              </a:rPr>
              <a:t>MobileNetV3 -- Howard et al. (2019). arXiv:1905.02244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" y="4434840"/>
            <a:ext cx="560527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A2E"/>
                </a:solidFill>
                <a:latin typeface="Calibri"/>
              </a:rPr>
              <a:t>Backbone for all 8 per-crop disease classifiers (MobileNetV3-Large, ~17 MB each).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" y="4617720"/>
            <a:ext cx="5605272" cy="1554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08509B"/>
                </a:solidFill>
                <a:latin typeface="Calibri"/>
              </a:rPr>
              <a:t>https://arxiv.org/abs/1905.02244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" y="4818888"/>
            <a:ext cx="560527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289B5A"/>
                </a:solidFill>
                <a:latin typeface="Calibri"/>
              </a:rPr>
              <a:t>MobileNetV2 -- Sandler et al. (2018). arXiv:1801.04381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" y="5001768"/>
            <a:ext cx="560527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A2E"/>
                </a:solidFill>
                <a:latin typeface="Calibri"/>
              </a:rPr>
              <a:t>Plant relevance filter (pre-trained ImageNet-1K via torchvision).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" y="5184648"/>
            <a:ext cx="5605272" cy="1554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08509B"/>
                </a:solidFill>
                <a:latin typeface="Calibri"/>
              </a:rPr>
              <a:t>https://arxiv.org/abs/1801.04381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" y="5385816"/>
            <a:ext cx="560527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289B5A"/>
                </a:solidFill>
                <a:latin typeface="Calibri"/>
              </a:rPr>
              <a:t>PyTorch -- Paszke et al. (2019). NeurIPS.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" y="5568696"/>
            <a:ext cx="560527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A2E"/>
                </a:solidFill>
                <a:latin typeface="Calibri"/>
              </a:rPr>
              <a:t>Core DL framework for training, inference &amp; .pth model persistence.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" y="5751576"/>
            <a:ext cx="5605272" cy="1554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08509B"/>
                </a:solidFill>
                <a:latin typeface="Calibri"/>
              </a:rPr>
              <a:t>https://pytorch.org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44768" y="2807208"/>
            <a:ext cx="5742432" cy="2889504"/>
          </a:xfrm>
          <a:prstGeom prst="rect">
            <a:avLst/>
          </a:prstGeom>
          <a:solidFill>
            <a:srgbClr val="FFFFFF"/>
          </a:solidFill>
          <a:ln w="19050">
            <a:solidFill>
              <a:srgbClr val="5B3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44768" y="2807208"/>
            <a:ext cx="5742432" cy="237744"/>
          </a:xfrm>
          <a:prstGeom prst="rect">
            <a:avLst/>
          </a:prstGeom>
          <a:solidFill>
            <a:srgbClr val="5B3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2834640"/>
            <a:ext cx="5632704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OPEN APIS &amp; SERVICES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3081528"/>
            <a:ext cx="560527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5B3AB5"/>
                </a:solidFill>
                <a:latin typeface="Calibri"/>
              </a:rPr>
              <a:t>Open-Meteo Weather API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3264408"/>
            <a:ext cx="560527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A2E"/>
                </a:solidFill>
                <a:latin typeface="Calibri"/>
              </a:rPr>
              <a:t>Free, open-source weather API: temp, humidity, precipitation, wind, 7-day forecast. Used in weatherService.ts.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36208" y="3447288"/>
            <a:ext cx="5605272" cy="1554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08509B"/>
                </a:solidFill>
                <a:latin typeface="Calibri"/>
              </a:rPr>
              <a:t>https://open-meteo.com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208" y="3648456"/>
            <a:ext cx="560527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5B3AB5"/>
                </a:solidFill>
                <a:latin typeface="Calibri"/>
              </a:rPr>
              <a:t>Nominatim / OpenStreetMap Reverse Geocoding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36208" y="3831336"/>
            <a:ext cx="560527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A2E"/>
                </a:solidFill>
                <a:latin typeface="Calibri"/>
              </a:rPr>
              <a:t>Free GPS-to-address. License: ODbL. Used in locationService.ts.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36208" y="4014216"/>
            <a:ext cx="5605272" cy="1554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08509B"/>
                </a:solidFill>
                <a:latin typeface="Calibri"/>
              </a:rPr>
              <a:t>https://nominatim.org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36208" y="4215384"/>
            <a:ext cx="560527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5B3AB5"/>
                </a:solidFill>
                <a:latin typeface="Calibri"/>
              </a:rPr>
              <a:t>HuggingFace Transformers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36208" y="4398264"/>
            <a:ext cx="560527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A2E"/>
                </a:solidFill>
                <a:latin typeface="Calibri"/>
              </a:rPr>
              <a:t>CLIP tokenizer, feature extraction &amp; model loading in inference pipeline.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36208" y="4581144"/>
            <a:ext cx="5605272" cy="1554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08509B"/>
                </a:solidFill>
                <a:latin typeface="Calibri"/>
              </a:rPr>
              <a:t>https://huggingface.co/docs/transformers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1168" y="6108192"/>
            <a:ext cx="11777472" cy="475488"/>
          </a:xfrm>
          <a:prstGeom prst="rect">
            <a:avLst/>
          </a:prstGeom>
          <a:solidFill>
            <a:srgbClr val="D4EDDA"/>
          </a:solidFill>
          <a:ln w="12700">
            <a:solidFill>
              <a:srgbClr val="3AB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6126480"/>
            <a:ext cx="11521440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6B3A"/>
                </a:solidFill>
                <a:latin typeface="Calibri"/>
              </a:rPr>
              <a:t>PROJECT DOCS:  docs/CROP_DATA_SOURCES.md  |  docs/MODEL_EVALUATION.md  |  docs/SCAN_PIPELINE.md  |  docs/MAHARASHTRA_20_CROPS.md  |  backend/ml/saved_models/*.metadata.json  |  backend/ml/evaluation_report.json
All sources verified from repository files. No citations invented. URLs checked September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